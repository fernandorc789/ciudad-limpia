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14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3.jpe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12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jpeg"/><Relationship Id="rId5" Type="http://schemas.openxmlformats.org/officeDocument/2006/relationships/image" Target="../media/image8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6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4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12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6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035040" cy="60350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-1828800" y="475488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 LIMPIA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822960" y="3310128"/>
            <a:ext cx="1188720" cy="64008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para el reporte ciudadano de residuos sólidos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desmontes en lugares no autorizados.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4709160"/>
            <a:ext cx="64922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105156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INTEGRANTES- Grupo 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513892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Fernando Rodriguez Contreras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Jare Cabrera Quispe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Jesus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Carhuamaca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Torres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74920" y="486460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Móviles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89720" y="1234440"/>
            <a:ext cx="2240280" cy="4892446"/>
          </a:xfrm>
          <a:prstGeom prst="roundRect">
            <a:avLst>
              <a:gd name="adj" fmla="val 10612"/>
            </a:avLst>
          </a:prstGeom>
          <a:solidFill>
            <a:srgbClr val="1B1B1B"/>
          </a:solidFill>
          <a:ln/>
          <a:effectLst>
            <a:outerShdw blurRad="127000" dist="38100" dir="5400000" algn="bl" rotWithShape="0">
              <a:srgbClr val="1B3B1C">
                <a:alpha val="1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15" name="Image 1" descr="/home/claude/work/img/image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72016" y="1399032"/>
            <a:ext cx="2075688" cy="46126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944100" y="1344168"/>
            <a:ext cx="731520" cy="9144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B562FFA-9571-1238-91F9-C59ADCD02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3612" y="344195"/>
            <a:ext cx="1198776" cy="1276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enfrentan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municipalidades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84448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841248" y="2258568"/>
            <a:ext cx="566928" cy="56692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/home/claude/work/icons/trash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11" y="239463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30552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Acumulación de basura en espacios públicos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80560" y="1965960"/>
            <a:ext cx="3584448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4681728" y="2258568"/>
            <a:ext cx="566928" cy="56692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0" name="Image 1" descr="/home/claude/work/icons/warning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791" y="2394631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2130552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Desmontes en lugares no autorizados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321040" y="1965960"/>
            <a:ext cx="3584448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8522208" y="2258568"/>
            <a:ext cx="566928" cy="56692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/home/claude/work/icons/comment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271" y="2394631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5440" y="2130552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ciudadanos dispersos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593592"/>
            <a:ext cx="3584448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2"/>
          <p:cNvSpPr/>
          <p:nvPr/>
        </p:nvSpPr>
        <p:spPr>
          <a:xfrm>
            <a:off x="841248" y="3886200"/>
            <a:ext cx="566928" cy="56692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3" descr="/home/claude/work/icons/mapMarker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11" y="402226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758184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geolocalización precisa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480560" y="3593592"/>
            <a:ext cx="3584448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5"/>
          <p:cNvSpPr/>
          <p:nvPr/>
        </p:nvSpPr>
        <p:spPr>
          <a:xfrm>
            <a:off x="4681728" y="3886200"/>
            <a:ext cx="566928" cy="56692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4" descr="/home/claude/work/icons/clock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791" y="4022263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3758184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 y lentos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321040" y="3593592"/>
            <a:ext cx="3584448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18"/>
          <p:cNvSpPr/>
          <p:nvPr/>
        </p:nvSpPr>
        <p:spPr>
          <a:xfrm>
            <a:off x="8522208" y="3886200"/>
            <a:ext cx="566928" cy="56692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6" name="Image 5" descr="/home/claude/work/icons/users_for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8271" y="4022263"/>
            <a:ext cx="294803" cy="29480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35440" y="3758184"/>
            <a:ext cx="24871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Escasa participación ciudadana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40080" y="5294376"/>
            <a:ext cx="11265408" cy="566928"/>
          </a:xfrm>
          <a:prstGeom prst="roundRect">
            <a:avLst>
              <a:gd name="adj" fmla="val 16129"/>
            </a:avLst>
          </a:prstGeom>
          <a:solidFill>
            <a:srgbClr val="1B3B1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1"/>
          <p:cNvSpPr/>
          <p:nvPr/>
        </p:nvSpPr>
        <p:spPr>
          <a:xfrm>
            <a:off x="868680" y="5294376"/>
            <a:ext cx="1080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contaminación, mayores costos operativos y menor satisfacción ciudadana.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que conecta a los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ciudadanos con su municipalidad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geolocalizados en tiempo real, desde el celular del vecino hasta el panel de gestión municipal.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841248" y="3172968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/home/claude/work/icons/camera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3293669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7490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inmediato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celular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0" y="297180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3858768" y="3172968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work/icons/mapMarke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469" y="329366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37490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fotográfica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ubicación GPS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61772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841248" y="4818888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/home/claude/work/icons/sync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493958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5394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reporte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657600" y="461772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4"/>
          <p:cNvSpPr/>
          <p:nvPr/>
        </p:nvSpPr>
        <p:spPr>
          <a:xfrm>
            <a:off x="3858768" y="4818888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3" descr="/home/claude/work/icons/chartBar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9469" y="4939589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858768" y="5394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en vivo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915400" y="1005840"/>
            <a:ext cx="2468880" cy="5400446"/>
          </a:xfrm>
          <a:prstGeom prst="roundRect">
            <a:avLst>
              <a:gd name="adj" fmla="val 9630"/>
            </a:avLst>
          </a:prstGeom>
          <a:solidFill>
            <a:srgbClr val="1B1B1B"/>
          </a:solidFill>
          <a:ln/>
          <a:effectLst>
            <a:outerShdw blurRad="127000" dist="38100" dir="5400000" algn="bl" rotWithShape="0">
              <a:srgbClr val="1B3B1C">
                <a:alpha val="1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23" name="Image 4" descr="/home/claude/work/img/image13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97696" y="1170432"/>
            <a:ext cx="2304288" cy="51206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784080" y="1115568"/>
            <a:ext cx="731520" cy="9144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simple, del reporte ciudadano a la solución del problema.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4420" y="3131820"/>
            <a:ext cx="9125712" cy="0"/>
          </a:xfrm>
          <a:prstGeom prst="line">
            <a:avLst/>
          </a:prstGeom>
          <a:noFill/>
          <a:ln w="38100">
            <a:solidFill>
              <a:srgbClr val="D9E8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1097280" y="269748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work/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763" y="290596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73352" y="26060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y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4315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22422" y="269748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work/icons/mapMark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906" y="290596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8494" y="26060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328062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GPS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328062" y="4315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47565" y="2697480"/>
            <a:ext cx="868680" cy="8686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/home/claude/work/icons/arrowRigh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90596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3637" y="26060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153205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el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153205" y="4315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572707" y="2697480"/>
            <a:ext cx="868680" cy="8686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3" descr="/home/claude/work/icons/bell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190" y="2905963"/>
            <a:ext cx="451714" cy="45171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48779" y="26060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978347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y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atención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978347" y="4315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8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397850" y="2697480"/>
            <a:ext cx="868680" cy="8686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7" name="Image 4" descr="/home/claude/work/icons/checkCircle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3" y="2905963"/>
            <a:ext cx="451714" cy="45171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73922" y="26060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803490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803490" y="4315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8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10222992" y="2697480"/>
            <a:ext cx="868680" cy="8686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2" name="Image 5" descr="/home/claude/work/icons/thumbsUp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1475" y="2905963"/>
            <a:ext cx="451714" cy="45171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799064" y="26060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9628632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ciudadano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9628632" y="4315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8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0080" y="598932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7" name="Text 29"/>
          <p:cNvSpPr/>
          <p:nvPr/>
        </p:nvSpPr>
        <p:spPr>
          <a:xfrm>
            <a:off x="914400" y="5943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del ciudadano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3291840" y="598932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9" name="Text 31"/>
          <p:cNvSpPr/>
          <p:nvPr/>
        </p:nvSpPr>
        <p:spPr>
          <a:xfrm>
            <a:off x="3566160" y="5943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de la municipalidad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experiencia simple e intuitiva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52144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/home/claude/work/icons/mobile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665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98064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1" descr="/home/claude/work/icons/lightbulb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16642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94560" y="20665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443984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2" descr="/home/claude/work/icons/users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66420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40480" y="20665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089904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3" descr="/home/claude/work/icons/lock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166420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0" y="20665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1152144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4" descr="/home/claude/work/icons/city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872" y="262432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8640" y="302666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principal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2798064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5" descr="/home/claude/work/icons/listUl_for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7792" y="262432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94560" y="302666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reportes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4443984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3" name="Image 6" descr="/home/claude/work/icons/trophy_for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3712" y="262432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840480" y="302666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ciudadano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6089904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6" name="Image 7" descr="/home/claude/work/icons/checkCircle_fore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9632" y="2624328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486400" y="302666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usuario</a:t>
            </a:r>
            <a:endParaRPr lang="en-US" sz="1050" dirty="0"/>
          </a:p>
        </p:txBody>
      </p:sp>
      <p:sp>
        <p:nvSpPr>
          <p:cNvPr id="28" name="Shape 18"/>
          <p:cNvSpPr/>
          <p:nvPr/>
        </p:nvSpPr>
        <p:spPr>
          <a:xfrm>
            <a:off x="3552444" y="3429000"/>
            <a:ext cx="1371600" cy="2962046"/>
          </a:xfrm>
          <a:prstGeom prst="roundRect">
            <a:avLst>
              <a:gd name="adj" fmla="val 17333"/>
            </a:avLst>
          </a:prstGeom>
          <a:solidFill>
            <a:srgbClr val="1B1B1B"/>
          </a:solidFill>
          <a:ln/>
          <a:effectLst>
            <a:outerShdw blurRad="127000" dist="38100" dir="5400000" algn="bl" rotWithShape="0">
              <a:srgbClr val="1B3B1C">
                <a:alpha val="1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29" name="Image 8" descr="/home/claude/work/img/image7.jpe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634740" y="3593592"/>
            <a:ext cx="1207008" cy="268224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3872484" y="3538728"/>
            <a:ext cx="731520" cy="9144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0"/>
          <p:cNvSpPr/>
          <p:nvPr/>
        </p:nvSpPr>
        <p:spPr>
          <a:xfrm>
            <a:off x="3278124" y="646419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32" name="Shape 21"/>
          <p:cNvSpPr/>
          <p:nvPr/>
        </p:nvSpPr>
        <p:spPr>
          <a:xfrm>
            <a:off x="5125212" y="3429000"/>
            <a:ext cx="1371600" cy="2962046"/>
          </a:xfrm>
          <a:prstGeom prst="roundRect">
            <a:avLst>
              <a:gd name="adj" fmla="val 17333"/>
            </a:avLst>
          </a:prstGeom>
          <a:solidFill>
            <a:srgbClr val="1B1B1B"/>
          </a:solidFill>
          <a:ln/>
          <a:effectLst>
            <a:outerShdw blurRad="127000" dist="38100" dir="5400000" algn="bl" rotWithShape="0">
              <a:srgbClr val="1B3B1C">
                <a:alpha val="1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33" name="Image 9" descr="/home/claude/work/img/image11.jpe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207508" y="3593592"/>
            <a:ext cx="1207008" cy="268224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5445252" y="3538728"/>
            <a:ext cx="731520" cy="9144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Text 23"/>
          <p:cNvSpPr/>
          <p:nvPr/>
        </p:nvSpPr>
        <p:spPr>
          <a:xfrm>
            <a:off x="4850892" y="646419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6697980" y="3429000"/>
            <a:ext cx="1371600" cy="2962046"/>
          </a:xfrm>
          <a:prstGeom prst="roundRect">
            <a:avLst>
              <a:gd name="adj" fmla="val 17333"/>
            </a:avLst>
          </a:prstGeom>
          <a:solidFill>
            <a:srgbClr val="1B1B1B"/>
          </a:solidFill>
          <a:ln/>
          <a:effectLst>
            <a:outerShdw blurRad="127000" dist="38100" dir="5400000" algn="bl" rotWithShape="0">
              <a:srgbClr val="1B3B1C">
                <a:alpha val="1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37" name="Image 10" descr="/home/claude/work/img/image13.jpe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80276" y="3593592"/>
            <a:ext cx="1207008" cy="2682240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7018020" y="3538728"/>
            <a:ext cx="731520" cy="9144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9" name="Text 26"/>
          <p:cNvSpPr/>
          <p:nvPr/>
        </p:nvSpPr>
        <p:spPr>
          <a:xfrm>
            <a:off x="6423660" y="646419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0" name="Shape 27"/>
          <p:cNvSpPr/>
          <p:nvPr/>
        </p:nvSpPr>
        <p:spPr>
          <a:xfrm>
            <a:off x="8270748" y="3429000"/>
            <a:ext cx="1371600" cy="2962046"/>
          </a:xfrm>
          <a:prstGeom prst="roundRect">
            <a:avLst>
              <a:gd name="adj" fmla="val 17333"/>
            </a:avLst>
          </a:prstGeom>
          <a:solidFill>
            <a:srgbClr val="1B1B1B"/>
          </a:solidFill>
          <a:ln/>
          <a:effectLst>
            <a:outerShdw blurRad="127000" dist="38100" dir="5400000" algn="bl" rotWithShape="0">
              <a:srgbClr val="1B3B1C">
                <a:alpha val="1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41" name="Image 11" descr="/home/claude/work/img/image15.jpe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53044" y="3593592"/>
            <a:ext cx="1207008" cy="268224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8590788" y="3538728"/>
            <a:ext cx="731520" cy="9144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Text 29"/>
          <p:cNvSpPr/>
          <p:nvPr/>
        </p:nvSpPr>
        <p:spPr>
          <a:xfrm>
            <a:off x="7996428" y="646419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100" dirty="0"/>
          </a:p>
        </p:txBody>
      </p:sp>
      <p:sp>
        <p:nvSpPr>
          <p:cNvPr id="44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CLAVE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reporte, información completa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/home/claude/work/icons/camera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7" y="189719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78308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de evidencia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404872"/>
            <a:ext cx="475488" cy="47548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1" descr="/home/claude/work/icons/mapMarker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7" y="2518989"/>
            <a:ext cx="247254" cy="247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40487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exacta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026664"/>
            <a:ext cx="475488" cy="47548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2" descr="/home/claude/work/icons/calendar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7" y="3140781"/>
            <a:ext cx="247254" cy="247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26664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del incidente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3" descr="/home/claude/work/icons/comment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197" y="3762573"/>
            <a:ext cx="247254" cy="2472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64845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problema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40080" y="4270248"/>
            <a:ext cx="475488" cy="47548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4" descr="/home/claude/work/icons/tags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97" y="4384365"/>
            <a:ext cx="247254" cy="24725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27024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del residuo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640080" y="4892040"/>
            <a:ext cx="475488" cy="475488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5" descr="/home/claude/work/icons/sync_for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197" y="5006157"/>
            <a:ext cx="247254" cy="24725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48920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pendiente / atendido / resuelto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640080" y="5586984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1B3B1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15"/>
          <p:cNvSpPr/>
          <p:nvPr/>
        </p:nvSpPr>
        <p:spPr>
          <a:xfrm>
            <a:off x="868680" y="558698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completa para actuar rápidamente.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8869680" y="502920"/>
            <a:ext cx="1965960" cy="4282846"/>
          </a:xfrm>
          <a:prstGeom prst="roundRect">
            <a:avLst>
              <a:gd name="adj" fmla="val 12093"/>
            </a:avLst>
          </a:prstGeom>
          <a:solidFill>
            <a:srgbClr val="1B1B1B"/>
          </a:solidFill>
          <a:ln/>
          <a:effectLst>
            <a:outerShdw blurRad="127000" dist="38100" dir="5400000" algn="bl" rotWithShape="0">
              <a:srgbClr val="1B3B1C">
                <a:alpha val="1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25" name="Image 6" descr="/home/claude/work/img/image16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951976" y="667512"/>
            <a:ext cx="1801368" cy="400304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486900" y="612648"/>
            <a:ext cx="731520" cy="9144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18"/>
          <p:cNvSpPr/>
          <p:nvPr/>
        </p:nvSpPr>
        <p:spPr>
          <a:xfrm>
            <a:off x="8595360" y="485891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nuevo reporte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MUNICIPALIDAD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administrativo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control de la gestión municipal en un solo lugar.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804672" y="232714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/home/claude/work/icons/cog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22" y="2428098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2148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reportes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21488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599432" y="232714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work/icons/filte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382" y="242809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48072" y="2148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distrito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127248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804672" y="3305556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/home/claude/work/icons/tag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622" y="3406506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31272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categoría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434840" y="3127248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4"/>
          <p:cNvSpPr/>
          <p:nvPr/>
        </p:nvSpPr>
        <p:spPr>
          <a:xfrm>
            <a:off x="4599432" y="3305556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3" descr="/home/claude/work/icons/sync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382" y="3406506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48072" y="31272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estado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105656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17"/>
          <p:cNvSpPr/>
          <p:nvPr/>
        </p:nvSpPr>
        <p:spPr>
          <a:xfrm>
            <a:off x="804672" y="4283964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4" name="Image 4" descr="/home/claude/work/icons/mapMarked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2" y="4384914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53312" y="410565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mapas de incidencias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434840" y="4105656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0"/>
          <p:cNvSpPr/>
          <p:nvPr/>
        </p:nvSpPr>
        <p:spPr>
          <a:xfrm>
            <a:off x="4599432" y="4283964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8" name="Image 5" descr="/home/claude/work/icons/chartBar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382" y="4384914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48072" y="410565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estadísticas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40080" y="5084064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23"/>
          <p:cNvSpPr/>
          <p:nvPr/>
        </p:nvSpPr>
        <p:spPr>
          <a:xfrm>
            <a:off x="804672" y="5262372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2" name="Image 6" descr="/home/claude/work/icons/clock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622" y="5363322"/>
            <a:ext cx="218724" cy="21872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353312" y="508406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tiempos de atención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DECIDIR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ejecutivo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para una gestión basada en datos.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84448" cy="1691640"/>
          </a:xfrm>
          <a:prstGeom prst="roundRect">
            <a:avLst>
              <a:gd name="adj" fmla="val 6486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2112264" y="21945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work/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883" y="23481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80560" y="1965960"/>
            <a:ext cx="3584448" cy="1691640"/>
          </a:xfrm>
          <a:prstGeom prst="roundRect">
            <a:avLst>
              <a:gd name="adj" fmla="val 6486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5952744" y="21945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1" descr="/home/claude/work/icons/troph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363" y="23481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92608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321040" y="1965960"/>
            <a:ext cx="3584448" cy="1691640"/>
          </a:xfrm>
          <a:prstGeom prst="roundRect">
            <a:avLst>
              <a:gd name="adj" fmla="val 6486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0"/>
          <p:cNvSpPr/>
          <p:nvPr/>
        </p:nvSpPr>
        <p:spPr>
          <a:xfrm>
            <a:off x="9793224" y="21945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5" name="Image 2" descr="/home/claude/work/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6843" y="23481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92608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atención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3913632"/>
            <a:ext cx="3584448" cy="1691640"/>
          </a:xfrm>
          <a:prstGeom prst="roundRect">
            <a:avLst>
              <a:gd name="adj" fmla="val 6486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3"/>
          <p:cNvSpPr/>
          <p:nvPr/>
        </p:nvSpPr>
        <p:spPr>
          <a:xfrm>
            <a:off x="2112264" y="4142232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9" name="Image 3" descr="/home/claude/work/icons/mapMarke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5883" y="4295851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4873752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Distritos con mayor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480560" y="3913632"/>
            <a:ext cx="3584448" cy="1691640"/>
          </a:xfrm>
          <a:prstGeom prst="roundRect">
            <a:avLst>
              <a:gd name="adj" fmla="val 6486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16"/>
          <p:cNvSpPr/>
          <p:nvPr/>
        </p:nvSpPr>
        <p:spPr>
          <a:xfrm>
            <a:off x="5952744" y="4142232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3" name="Image 4" descr="/home/claude/work/icons/us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6363" y="4295851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17720" y="4873752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activos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321040" y="3913632"/>
            <a:ext cx="3584448" cy="1691640"/>
          </a:xfrm>
          <a:prstGeom prst="roundRect">
            <a:avLst>
              <a:gd name="adj" fmla="val 6486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Shape 19"/>
          <p:cNvSpPr/>
          <p:nvPr/>
        </p:nvSpPr>
        <p:spPr>
          <a:xfrm>
            <a:off x="9793224" y="4142232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7" name="Image 5" descr="/home/claude/work/icons/chart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6843" y="4295851"/>
            <a:ext cx="332842" cy="33284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58200" y="4873752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mensuales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 ciudadana que se sostiene en el tiempo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mayores desafíos de las municipalidades es lograr la participación activa de los vecinos. CIUDAD LIMPIA lo resuelve con: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/home/claude/work/icons/sta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670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puntos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9" name="Image 1" descr="/home/claude/work/icons/medal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29184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1821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Insignias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3803904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2" descr="/home/claude/work/icons/trophy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13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38039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40080" y="4425696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5" name="Image 3" descr="/home/claude/work/icons/chartLin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53542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1872" y="44256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40080" y="504748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4" descr="/home/claude/work/icons/handshake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157216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61872" y="5047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Reconocimientos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640080" y="5760720"/>
            <a:ext cx="5486400" cy="594360"/>
          </a:xfrm>
          <a:prstGeom prst="roundRect">
            <a:avLst>
              <a:gd name="adj" fmla="val 15385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4"/>
          <p:cNvSpPr/>
          <p:nvPr/>
        </p:nvSpPr>
        <p:spPr>
          <a:xfrm>
            <a:off x="868680" y="5760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Generando mayor compromiso ciudadano.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9006840" y="914400"/>
            <a:ext cx="2331720" cy="5095646"/>
          </a:xfrm>
          <a:prstGeom prst="roundRect">
            <a:avLst>
              <a:gd name="adj" fmla="val 10196"/>
            </a:avLst>
          </a:prstGeom>
          <a:solidFill>
            <a:srgbClr val="1B1B1B"/>
          </a:solidFill>
          <a:ln/>
          <a:effectLst>
            <a:outerShdw blurRad="127000" dist="38100" dir="5400000" algn="bl" rotWithShape="0">
              <a:srgbClr val="1B3B1C">
                <a:alpha val="16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23" name="Image 5" descr="/home/claude/work/img/image1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89136" y="1078992"/>
            <a:ext cx="2167128" cy="481584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806940" y="1024128"/>
            <a:ext cx="731520" cy="91440"/>
          </a:xfrm>
          <a:prstGeom prst="roundRect">
            <a:avLst>
              <a:gd name="adj" fmla="val 50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17"/>
          <p:cNvSpPr/>
          <p:nvPr/>
        </p:nvSpPr>
        <p:spPr>
          <a:xfrm>
            <a:off x="8732520" y="608319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la comunidad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AMBAS PARTES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para todos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1B3B1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/home/claude/work/icons/buildin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4" y="22805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Municipalidad</a:t>
            </a:r>
            <a:endParaRPr lang="en-US" sz="1900" dirty="0"/>
          </a:p>
        </p:txBody>
      </p:sp>
      <p:pic>
        <p:nvPicPr>
          <p:cNvPr id="8" name="Image 1" descr="/home/claude/work/icons/check_m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00837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9169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tiempos de respuesta</a:t>
            </a:r>
            <a:endParaRPr lang="en-US" sz="1350" dirty="0"/>
          </a:p>
        </p:txBody>
      </p:sp>
      <p:pic>
        <p:nvPicPr>
          <p:cNvPr id="10" name="Image 2" descr="/home/claude/work/icons/check_m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8386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39242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comunicación con los ciudadanos</a:t>
            </a:r>
            <a:endParaRPr lang="en-US" sz="1350" dirty="0"/>
          </a:p>
        </p:txBody>
      </p:sp>
      <p:pic>
        <p:nvPicPr>
          <p:cNvPr id="12" name="Image 3" descr="/home/claude/work/icons/check_m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5935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98448" y="38679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control operativo</a:t>
            </a:r>
            <a:endParaRPr lang="en-US" sz="1350" dirty="0"/>
          </a:p>
        </p:txBody>
      </p:sp>
      <p:pic>
        <p:nvPicPr>
          <p:cNvPr id="14" name="Image 4" descr="/home/claude/work/icons/check_m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3484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98448" y="4343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eficiente de recursos</a:t>
            </a:r>
            <a:endParaRPr lang="en-US" sz="1350" dirty="0"/>
          </a:p>
        </p:txBody>
      </p:sp>
      <p:pic>
        <p:nvPicPr>
          <p:cNvPr id="16" name="Image 5" descr="/home/claude/work/icons/check_m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10328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98448" y="481888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centralizada</a:t>
            </a:r>
            <a:endParaRPr lang="en-US" sz="1350" dirty="0"/>
          </a:p>
        </p:txBody>
      </p:sp>
      <p:pic>
        <p:nvPicPr>
          <p:cNvPr id="18" name="Image 6" descr="/home/claude/work/icons/check_m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85816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98448" y="52943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en la gestión</a:t>
            </a:r>
            <a:endParaRPr lang="en-US" sz="1350" dirty="0"/>
          </a:p>
        </p:txBody>
      </p:sp>
      <p:sp>
        <p:nvSpPr>
          <p:cNvPr id="20" name="Shape 11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2"/>
          <p:cNvSpPr/>
          <p:nvPr/>
        </p:nvSpPr>
        <p:spPr>
          <a:xfrm>
            <a:off x="6583680" y="21488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7" descr="/home/claude/work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4" y="2280514"/>
            <a:ext cx="285293" cy="28529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26948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Ciudadanos</a:t>
            </a:r>
            <a:endParaRPr lang="en-US" sz="1900" dirty="0"/>
          </a:p>
        </p:txBody>
      </p:sp>
      <p:pic>
        <p:nvPicPr>
          <p:cNvPr id="24" name="Image 8" descr="/home/claude/work/icons/check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008376"/>
            <a:ext cx="219456" cy="219456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22008" y="29169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directo con la municipalidad</a:t>
            </a:r>
            <a:endParaRPr lang="en-US" sz="1350" dirty="0"/>
          </a:p>
        </p:txBody>
      </p:sp>
      <p:pic>
        <p:nvPicPr>
          <p:cNvPr id="26" name="Image 9" descr="/home/claude/work/icons/check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483864"/>
            <a:ext cx="219456" cy="219456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22008" y="339242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estado de sus reportes</a:t>
            </a:r>
            <a:endParaRPr lang="en-US" sz="1350" dirty="0"/>
          </a:p>
        </p:txBody>
      </p:sp>
      <p:pic>
        <p:nvPicPr>
          <p:cNvPr id="28" name="Image 10" descr="/home/claude/work/icons/check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959352"/>
            <a:ext cx="219456" cy="219456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922008" y="38679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activa en su comunidad</a:t>
            </a:r>
            <a:endParaRPr lang="en-US" sz="1350" dirty="0"/>
          </a:p>
        </p:txBody>
      </p:sp>
      <p:pic>
        <p:nvPicPr>
          <p:cNvPr id="30" name="Image 11" descr="/home/claude/work/icons/check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434840"/>
            <a:ext cx="219456" cy="219456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922008" y="4343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por su colaboración</a:t>
            </a:r>
            <a:endParaRPr lang="en-US" sz="1350" dirty="0"/>
          </a:p>
        </p:txBody>
      </p:sp>
      <p:pic>
        <p:nvPicPr>
          <p:cNvPr id="32" name="Image 12" descr="/home/claude/work/icons/check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910328"/>
            <a:ext cx="219456" cy="219456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922008" y="481888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calidad de vida</a:t>
            </a:r>
            <a:endParaRPr lang="en-US" sz="1350" dirty="0"/>
          </a:p>
        </p:txBody>
      </p:sp>
      <p:sp>
        <p:nvSpPr>
          <p:cNvPr id="34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35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B3B1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875520" y="3657600"/>
            <a:ext cx="5029200" cy="5029200"/>
          </a:xfrm>
          <a:prstGeom prst="ellipse">
            <a:avLst/>
          </a:prstGeom>
          <a:solidFill>
            <a:srgbClr val="1B3B1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 Y SOCIAL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al servicio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ciudad mejor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1385316" y="288036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/home/claude/work/icons/trash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379" y="301642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657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focos de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62072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3607308" y="288036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work/icons/tre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371" y="301642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53512" y="3657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los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públicos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84064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5829300" y="288036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/home/claude/work/icons/leaf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363" y="30164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3657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la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ambiental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06056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4"/>
          <p:cNvSpPr/>
          <p:nvPr/>
        </p:nvSpPr>
        <p:spPr>
          <a:xfrm>
            <a:off x="8051292" y="288036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3" descr="/home/claude/work/icons/handshak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7355" y="301642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97496" y="3657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la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ciudadana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528048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17"/>
          <p:cNvSpPr/>
          <p:nvPr/>
        </p:nvSpPr>
        <p:spPr>
          <a:xfrm>
            <a:off x="10273284" y="288036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4" name="Image 4" descr="/home/claude/work/icons/city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9347" y="3016423"/>
            <a:ext cx="294803" cy="29480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19488" y="3657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la relación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ciudadano-municipalidad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CRECIMIENTO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plataforma para múltiples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municipales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puede ampliarse para gestionar: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1714500" y="2587752"/>
            <a:ext cx="457200" cy="45720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work/icons/trash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228" y="269748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Basura informal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4549140" y="2587752"/>
            <a:ext cx="457200" cy="45720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1" descr="/home/claude/work/icons/warning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68" y="26974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Desmontes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0"/>
          <p:cNvSpPr/>
          <p:nvPr/>
        </p:nvSpPr>
        <p:spPr>
          <a:xfrm>
            <a:off x="7383780" y="2587752"/>
            <a:ext cx="457200" cy="45720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5" name="Image 2" descr="/home/claude/work/icons/lightbulb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508" y="269748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Alumbrado público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14400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3"/>
          <p:cNvSpPr/>
          <p:nvPr/>
        </p:nvSpPr>
        <p:spPr>
          <a:xfrm>
            <a:off x="10218420" y="2587752"/>
            <a:ext cx="457200" cy="45720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9" name="Image 3" descr="/home/claude/work/icons/road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8148" y="269748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35440" y="3108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y veredas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38862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16"/>
          <p:cNvSpPr/>
          <p:nvPr/>
        </p:nvSpPr>
        <p:spPr>
          <a:xfrm>
            <a:off x="1714500" y="4050792"/>
            <a:ext cx="457200" cy="45720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3" name="Image 4" descr="/home/claude/work/icons/tree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4228" y="4160520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4572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verdes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474720" y="38862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Shape 19"/>
          <p:cNvSpPr/>
          <p:nvPr/>
        </p:nvSpPr>
        <p:spPr>
          <a:xfrm>
            <a:off x="4549140" y="4050792"/>
            <a:ext cx="457200" cy="45720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7" name="Image 5" descr="/home/claude/work/icons/shield_for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868" y="416052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66160" y="4572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ciudadana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309360" y="38862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5F5F0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0" name="Shape 22"/>
          <p:cNvSpPr/>
          <p:nvPr/>
        </p:nvSpPr>
        <p:spPr>
          <a:xfrm>
            <a:off x="7383780" y="4050792"/>
            <a:ext cx="457200" cy="45720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1" name="Image 6" descr="/home/claude/work/icons/building_for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3508" y="4160520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400800" y="4572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urbana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TÉCNICO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confiable y moderna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con herramientas robustas, utilizadas por las principales aplicaciones del mundo.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work/icons/mobile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5091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0632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4290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nativo, rápida y fácil de usar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214884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709160" y="2377440"/>
            <a:ext cx="548640" cy="54864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work/icons/server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834" y="25091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0632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robusto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9160" y="34290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la información de forma estable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21040" y="214884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8549640" y="2377440"/>
            <a:ext cx="548640" cy="54864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/home/claude/work/icons/database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1314" y="25091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0632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segura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49640" y="342900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protegida y organizada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187952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6"/>
          <p:cNvSpPr/>
          <p:nvPr/>
        </p:nvSpPr>
        <p:spPr>
          <a:xfrm>
            <a:off x="868680" y="4416552"/>
            <a:ext cx="548640" cy="54864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3" descr="/home/claude/work/icons/shield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4" y="4548226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51023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68680" y="546811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autenticado y protegido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480560" y="4187952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Shape 20"/>
          <p:cNvSpPr/>
          <p:nvPr/>
        </p:nvSpPr>
        <p:spPr>
          <a:xfrm>
            <a:off x="4709160" y="4416552"/>
            <a:ext cx="548640" cy="54864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7" name="Image 4" descr="/home/claude/work/icons/cloud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0834" y="4548226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09160" y="51023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en la nube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709160" y="546811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 crecer sin límites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321040" y="4187952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1C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4"/>
          <p:cNvSpPr/>
          <p:nvPr/>
        </p:nvSpPr>
        <p:spPr>
          <a:xfrm>
            <a:off x="8549640" y="4416552"/>
            <a:ext cx="548640" cy="548640"/>
          </a:xfrm>
          <a:prstGeom prst="ellipse">
            <a:avLst/>
          </a:prstGeom>
          <a:solidFill>
            <a:srgbClr val="D9E8C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2" name="Image 5" descr="/home/claude/work/icons/sync_for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314" y="4548226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49640" y="51023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 tiempo real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549640" y="546811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siempre actualizada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MIRANDO HACIA ADELANTE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futura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funcionalidades que potenciarán aún más la gestión municipal.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804672" y="239572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/home/claude/work/icons/robo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0545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331720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para clasificación automática de residuos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804672" y="3108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work/icons/warning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186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0449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reportes duplicados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758184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804672" y="3822192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/home/claude/work/icons/fir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3192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758184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calor de incidencias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4471416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4"/>
          <p:cNvSpPr/>
          <p:nvPr/>
        </p:nvSpPr>
        <p:spPr>
          <a:xfrm>
            <a:off x="804672" y="4535424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3" descr="/home/claude/work/icons/chartLin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64515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471416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zonas críticas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0080" y="5184648"/>
            <a:ext cx="10881360" cy="585216"/>
          </a:xfrm>
          <a:prstGeom prst="roundRect">
            <a:avLst>
              <a:gd name="adj" fmla="val 1562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17"/>
          <p:cNvSpPr/>
          <p:nvPr/>
        </p:nvSpPr>
        <p:spPr>
          <a:xfrm>
            <a:off x="804672" y="5248656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4" name="Image 4" descr="/home/claude/work/icons/sync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35838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5184648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sistemas municipales existentes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F5F5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 LIMPIA no es solo una aplicación.
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una plataforma de transformación digital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 gestión ambiental urbana.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las municipalidades: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914400" y="35433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/home/claude/work/icons/commen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36969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315468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al ciudadano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63640" y="315468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6537960" y="35433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work/icons/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579" y="36969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315468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 más rápido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84632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914400" y="523494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/home/claude/work/icons/chartBar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" y="53885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84632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mejor sus recursos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263640" y="484632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Shape 14"/>
          <p:cNvSpPr/>
          <p:nvPr/>
        </p:nvSpPr>
        <p:spPr>
          <a:xfrm>
            <a:off x="6537960" y="523494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3" descr="/home/claude/work/icons/city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579" y="5388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484632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ciudades más limpias y sostenibles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B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601200" y="347472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/home/claude/work/icons/leaf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12252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979676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D9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Transformemos juntos la gestión urbana mediante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D9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participación ciudadana.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802636" y="4297680"/>
            <a:ext cx="658368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 1" descr="/home/claude/work/icons/users_m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956" y="45354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61004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Grupo6</a:t>
            </a:r>
            <a:endParaRPr lang="en-US" sz="1350" dirty="0"/>
          </a:p>
        </p:txBody>
      </p:sp>
      <p:pic>
        <p:nvPicPr>
          <p:cNvPr id="11" name="Image 2" descr="/home/claude/work/icons/comment_m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796" y="45354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52844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Cibertec@ciudadlimpia.pe</a:t>
            </a:r>
            <a:endParaRPr lang="en-US" sz="1350" dirty="0"/>
          </a:p>
        </p:txBody>
      </p:sp>
      <p:pic>
        <p:nvPicPr>
          <p:cNvPr id="13" name="Image 3" descr="/home/claude/work/icons/mobile_mo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6956" y="512978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61004" y="5093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+51 999 999 999</a:t>
            </a:r>
            <a:endParaRPr lang="en-US" sz="1350" dirty="0"/>
          </a:p>
        </p:txBody>
      </p:sp>
      <p:pic>
        <p:nvPicPr>
          <p:cNvPr id="15" name="Image 4" descr="/home/claude/work/icons/city_m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796" y="512978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52844" y="5093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www.ciudadlimpia.pe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LIMPIA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B1050B8-CFAF-61EB-9185-45AF94DD76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423210" y="451713"/>
            <a:ext cx="1379108" cy="14685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741</Words>
  <Application>Microsoft Office PowerPoint</Application>
  <PresentationFormat>Panorámica</PresentationFormat>
  <Paragraphs>245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Ciudad Limpia - Presentación Comercial</dc:title>
  <dc:subject>PptxGenJS Presentation</dc:subject>
  <dc:creator>Ciudad Limpia</dc:creator>
  <cp:lastModifiedBy>i201921067 (Rodriguez Contreras,Nick Fernando)</cp:lastModifiedBy>
  <cp:revision>4</cp:revision>
  <dcterms:created xsi:type="dcterms:W3CDTF">2026-06-23T23:51:47Z</dcterms:created>
  <dcterms:modified xsi:type="dcterms:W3CDTF">2026-06-24T00:49:11Z</dcterms:modified>
</cp:coreProperties>
</file>